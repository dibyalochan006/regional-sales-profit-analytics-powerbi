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byalochan dandapat" userId="496aa647fadee3ff" providerId="LiveId" clId="{AE4D2A81-7AD1-4BC1-A8CB-954BDA224E34}"/>
    <pc:docChg chg="undo custSel modSld">
      <pc:chgData name="dibyalochan dandapat" userId="496aa647fadee3ff" providerId="LiveId" clId="{AE4D2A81-7AD1-4BC1-A8CB-954BDA224E34}" dt="2026-08-24T16:42:20.708" v="73" actId="14100"/>
      <pc:docMkLst>
        <pc:docMk/>
      </pc:docMkLst>
      <pc:sldChg chg="addSp modSp mod">
        <pc:chgData name="dibyalochan dandapat" userId="496aa647fadee3ff" providerId="LiveId" clId="{AE4D2A81-7AD1-4BC1-A8CB-954BDA224E34}" dt="2026-08-24T15:17:45.857" v="10" actId="14100"/>
        <pc:sldMkLst>
          <pc:docMk/>
          <pc:sldMk cId="0" sldId="258"/>
        </pc:sldMkLst>
        <pc:spChg chg="mod">
          <ac:chgData name="dibyalochan dandapat" userId="496aa647fadee3ff" providerId="LiveId" clId="{AE4D2A81-7AD1-4BC1-A8CB-954BDA224E34}" dt="2026-08-24T15:11:43.787" v="0" actId="1076"/>
          <ac:spMkLst>
            <pc:docMk/>
            <pc:sldMk cId="0" sldId="258"/>
            <ac:spMk id="22" creationId="{00000000-0000-0000-0000-000000000000}"/>
          </ac:spMkLst>
        </pc:spChg>
        <pc:picChg chg="add mod">
          <ac:chgData name="dibyalochan dandapat" userId="496aa647fadee3ff" providerId="LiveId" clId="{AE4D2A81-7AD1-4BC1-A8CB-954BDA224E34}" dt="2026-08-24T15:14:52.518" v="2" actId="1076"/>
          <ac:picMkLst>
            <pc:docMk/>
            <pc:sldMk cId="0" sldId="258"/>
            <ac:picMk id="25" creationId="{604699A3-39D6-F859-2A8F-53420B9BA79C}"/>
          </ac:picMkLst>
        </pc:picChg>
        <pc:picChg chg="add mod">
          <ac:chgData name="dibyalochan dandapat" userId="496aa647fadee3ff" providerId="LiveId" clId="{AE4D2A81-7AD1-4BC1-A8CB-954BDA224E34}" dt="2026-08-24T15:17:45.857" v="10" actId="14100"/>
          <ac:picMkLst>
            <pc:docMk/>
            <pc:sldMk cId="0" sldId="258"/>
            <ac:picMk id="27" creationId="{9A57B3D8-FB1D-8DF6-E507-E3BAB86CCA95}"/>
          </ac:picMkLst>
        </pc:picChg>
        <pc:picChg chg="add mod">
          <ac:chgData name="dibyalochan dandapat" userId="496aa647fadee3ff" providerId="LiveId" clId="{AE4D2A81-7AD1-4BC1-A8CB-954BDA224E34}" dt="2026-08-24T15:17:42.143" v="9" actId="14100"/>
          <ac:picMkLst>
            <pc:docMk/>
            <pc:sldMk cId="0" sldId="258"/>
            <ac:picMk id="29" creationId="{F60802C6-0693-75E7-4674-7E5857BA235C}"/>
          </ac:picMkLst>
        </pc:picChg>
      </pc:sldChg>
      <pc:sldChg chg="addSp delSp modSp mod">
        <pc:chgData name="dibyalochan dandapat" userId="496aa647fadee3ff" providerId="LiveId" clId="{AE4D2A81-7AD1-4BC1-A8CB-954BDA224E34}" dt="2026-08-24T15:23:46.540" v="36" actId="1076"/>
        <pc:sldMkLst>
          <pc:docMk/>
          <pc:sldMk cId="0" sldId="259"/>
        </pc:sldMkLst>
        <pc:spChg chg="add del">
          <ac:chgData name="dibyalochan dandapat" userId="496aa647fadee3ff" providerId="LiveId" clId="{AE4D2A81-7AD1-4BC1-A8CB-954BDA224E34}" dt="2026-08-24T15:20:57.977" v="22" actId="21"/>
          <ac:spMkLst>
            <pc:docMk/>
            <pc:sldMk cId="0" sldId="259"/>
            <ac:spMk id="2" creationId="{00000000-0000-0000-0000-000000000000}"/>
          </ac:spMkLst>
        </pc:spChg>
        <pc:spChg chg="mod">
          <ac:chgData name="dibyalochan dandapat" userId="496aa647fadee3ff" providerId="LiveId" clId="{AE4D2A81-7AD1-4BC1-A8CB-954BDA224E34}" dt="2026-08-24T15:20:01.763" v="16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dibyalochan dandapat" userId="496aa647fadee3ff" providerId="LiveId" clId="{AE4D2A81-7AD1-4BC1-A8CB-954BDA224E34}" dt="2026-08-24T15:20:28.543" v="18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dibyalochan dandapat" userId="496aa647fadee3ff" providerId="LiveId" clId="{AE4D2A81-7AD1-4BC1-A8CB-954BDA224E34}" dt="2026-08-24T15:20:12.239" v="17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dibyalochan dandapat" userId="496aa647fadee3ff" providerId="LiveId" clId="{AE4D2A81-7AD1-4BC1-A8CB-954BDA224E34}" dt="2026-08-24T15:20:38.058" v="19" actId="1076"/>
          <ac:spMkLst>
            <pc:docMk/>
            <pc:sldMk cId="0" sldId="259"/>
            <ac:spMk id="10" creationId="{00000000-0000-0000-0000-000000000000}"/>
          </ac:spMkLst>
        </pc:spChg>
        <pc:spChg chg="add del mod">
          <ac:chgData name="dibyalochan dandapat" userId="496aa647fadee3ff" providerId="LiveId" clId="{AE4D2A81-7AD1-4BC1-A8CB-954BDA224E34}" dt="2026-08-24T15:21:05.006" v="24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dibyalochan dandapat" userId="496aa647fadee3ff" providerId="LiveId" clId="{AE4D2A81-7AD1-4BC1-A8CB-954BDA224E34}" dt="2026-08-24T15:21:16.891" v="26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dibyalochan dandapat" userId="496aa647fadee3ff" providerId="LiveId" clId="{AE4D2A81-7AD1-4BC1-A8CB-954BDA224E34}" dt="2026-08-24T15:21:44.768" v="28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dibyalochan dandapat" userId="496aa647fadee3ff" providerId="LiveId" clId="{AE4D2A81-7AD1-4BC1-A8CB-954BDA224E34}" dt="2026-08-24T15:22:07.497" v="30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dibyalochan dandapat" userId="496aa647fadee3ff" providerId="LiveId" clId="{AE4D2A81-7AD1-4BC1-A8CB-954BDA224E34}" dt="2026-08-24T15:21:10.853" v="25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dibyalochan dandapat" userId="496aa647fadee3ff" providerId="LiveId" clId="{AE4D2A81-7AD1-4BC1-A8CB-954BDA224E34}" dt="2026-08-24T15:21:24.419" v="27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dibyalochan dandapat" userId="496aa647fadee3ff" providerId="LiveId" clId="{AE4D2A81-7AD1-4BC1-A8CB-954BDA224E34}" dt="2026-08-24T15:21:56.009" v="29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dibyalochan dandapat" userId="496aa647fadee3ff" providerId="LiveId" clId="{AE4D2A81-7AD1-4BC1-A8CB-954BDA224E34}" dt="2026-08-24T15:22:18.773" v="31" actId="1076"/>
          <ac:spMkLst>
            <pc:docMk/>
            <pc:sldMk cId="0" sldId="259"/>
            <ac:spMk id="18" creationId="{00000000-0000-0000-0000-000000000000}"/>
          </ac:spMkLst>
        </pc:spChg>
        <pc:picChg chg="add mod">
          <ac:chgData name="dibyalochan dandapat" userId="496aa647fadee3ff" providerId="LiveId" clId="{AE4D2A81-7AD1-4BC1-A8CB-954BDA224E34}" dt="2026-08-24T15:23:46.540" v="36" actId="1076"/>
          <ac:picMkLst>
            <pc:docMk/>
            <pc:sldMk cId="0" sldId="259"/>
            <ac:picMk id="21" creationId="{70AB7467-B675-1B23-5083-4C87B72B326F}"/>
          </ac:picMkLst>
        </pc:picChg>
        <pc:picChg chg="add mod">
          <ac:chgData name="dibyalochan dandapat" userId="496aa647fadee3ff" providerId="LiveId" clId="{AE4D2A81-7AD1-4BC1-A8CB-954BDA224E34}" dt="2026-08-24T15:23:43.449" v="35" actId="1076"/>
          <ac:picMkLst>
            <pc:docMk/>
            <pc:sldMk cId="0" sldId="259"/>
            <ac:picMk id="23" creationId="{20614132-CF32-EFEF-6DB0-F7FC265C51B0}"/>
          </ac:picMkLst>
        </pc:picChg>
      </pc:sldChg>
      <pc:sldChg chg="addSp delSp modSp mod">
        <pc:chgData name="dibyalochan dandapat" userId="496aa647fadee3ff" providerId="LiveId" clId="{AE4D2A81-7AD1-4BC1-A8CB-954BDA224E34}" dt="2026-08-24T16:42:20.708" v="73" actId="14100"/>
        <pc:sldMkLst>
          <pc:docMk/>
          <pc:sldMk cId="0" sldId="260"/>
        </pc:sldMkLst>
        <pc:picChg chg="add mod">
          <ac:chgData name="dibyalochan dandapat" userId="496aa647fadee3ff" providerId="LiveId" clId="{AE4D2A81-7AD1-4BC1-A8CB-954BDA224E34}" dt="2026-08-24T15:26:10.698" v="40" actId="14100"/>
          <ac:picMkLst>
            <pc:docMk/>
            <pc:sldMk cId="0" sldId="260"/>
            <ac:picMk id="21" creationId="{107AFAA0-9197-A067-512E-5D889FC4E57E}"/>
          </ac:picMkLst>
        </pc:picChg>
        <pc:picChg chg="add mod">
          <ac:chgData name="dibyalochan dandapat" userId="496aa647fadee3ff" providerId="LiveId" clId="{AE4D2A81-7AD1-4BC1-A8CB-954BDA224E34}" dt="2026-08-24T16:42:20.708" v="73" actId="14100"/>
          <ac:picMkLst>
            <pc:docMk/>
            <pc:sldMk cId="0" sldId="260"/>
            <ac:picMk id="22" creationId="{4DDD40CB-F058-B4B2-FADF-25C9FAA67560}"/>
          </ac:picMkLst>
        </pc:picChg>
        <pc:picChg chg="add del mod">
          <ac:chgData name="dibyalochan dandapat" userId="496aa647fadee3ff" providerId="LiveId" clId="{AE4D2A81-7AD1-4BC1-A8CB-954BDA224E34}" dt="2026-08-24T16:41:31.796" v="67" actId="478"/>
          <ac:picMkLst>
            <pc:docMk/>
            <pc:sldMk cId="0" sldId="260"/>
            <ac:picMk id="23" creationId="{5BE31945-956E-F57F-CE5B-0666B5318F81}"/>
          </ac:picMkLst>
        </pc:picChg>
        <pc:picChg chg="add mod">
          <ac:chgData name="dibyalochan dandapat" userId="496aa647fadee3ff" providerId="LiveId" clId="{AE4D2A81-7AD1-4BC1-A8CB-954BDA224E34}" dt="2026-08-24T15:27:33.995" v="50" actId="14100"/>
          <ac:picMkLst>
            <pc:docMk/>
            <pc:sldMk cId="0" sldId="260"/>
            <ac:picMk id="25" creationId="{F6F3D6A9-BB23-6CF8-1B97-17D420B10202}"/>
          </ac:picMkLst>
        </pc:picChg>
      </pc:sldChg>
      <pc:sldChg chg="addSp modSp mod">
        <pc:chgData name="dibyalochan dandapat" userId="496aa647fadee3ff" providerId="LiveId" clId="{AE4D2A81-7AD1-4BC1-A8CB-954BDA224E34}" dt="2026-08-24T15:30:29.281" v="56" actId="1076"/>
        <pc:sldMkLst>
          <pc:docMk/>
          <pc:sldMk cId="0" sldId="261"/>
        </pc:sldMkLst>
        <pc:picChg chg="add mod">
          <ac:chgData name="dibyalochan dandapat" userId="496aa647fadee3ff" providerId="LiveId" clId="{AE4D2A81-7AD1-4BC1-A8CB-954BDA224E34}" dt="2026-08-24T15:28:43.074" v="52" actId="1076"/>
          <ac:picMkLst>
            <pc:docMk/>
            <pc:sldMk cId="0" sldId="261"/>
            <ac:picMk id="21" creationId="{1DD33178-ADAA-4925-FD16-F531F7D54FD9}"/>
          </ac:picMkLst>
        </pc:picChg>
        <pc:picChg chg="add mod">
          <ac:chgData name="dibyalochan dandapat" userId="496aa647fadee3ff" providerId="LiveId" clId="{AE4D2A81-7AD1-4BC1-A8CB-954BDA224E34}" dt="2026-08-24T15:29:29.487" v="54" actId="1076"/>
          <ac:picMkLst>
            <pc:docMk/>
            <pc:sldMk cId="0" sldId="261"/>
            <ac:picMk id="23" creationId="{69429174-FDBD-F37A-49F7-DE98E8B6A4E6}"/>
          </ac:picMkLst>
        </pc:picChg>
        <pc:picChg chg="add mod">
          <ac:chgData name="dibyalochan dandapat" userId="496aa647fadee3ff" providerId="LiveId" clId="{AE4D2A81-7AD1-4BC1-A8CB-954BDA224E34}" dt="2026-08-24T15:30:29.281" v="56" actId="1076"/>
          <ac:picMkLst>
            <pc:docMk/>
            <pc:sldMk cId="0" sldId="261"/>
            <ac:picMk id="25" creationId="{EBFC3CAE-A96E-FD89-EAF3-0257F65F8933}"/>
          </ac:picMkLst>
        </pc:picChg>
      </pc:sldChg>
      <pc:sldChg chg="addSp modSp mod">
        <pc:chgData name="dibyalochan dandapat" userId="496aa647fadee3ff" providerId="LiveId" clId="{AE4D2A81-7AD1-4BC1-A8CB-954BDA224E34}" dt="2026-08-24T15:34:22.569" v="66" actId="14100"/>
        <pc:sldMkLst>
          <pc:docMk/>
          <pc:sldMk cId="0" sldId="262"/>
        </pc:sldMkLst>
        <pc:spChg chg="mod">
          <ac:chgData name="dibyalochan dandapat" userId="496aa647fadee3ff" providerId="LiveId" clId="{AE4D2A81-7AD1-4BC1-A8CB-954BDA224E34}" dt="2026-08-24T15:31:17.612" v="59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dibyalochan dandapat" userId="496aa647fadee3ff" providerId="LiveId" clId="{AE4D2A81-7AD1-4BC1-A8CB-954BDA224E34}" dt="2026-08-24T15:31:09.141" v="58" actId="14100"/>
          <ac:spMkLst>
            <pc:docMk/>
            <pc:sldMk cId="0" sldId="262"/>
            <ac:spMk id="7" creationId="{00000000-0000-0000-0000-000000000000}"/>
          </ac:spMkLst>
        </pc:spChg>
        <pc:picChg chg="add mod">
          <ac:chgData name="dibyalochan dandapat" userId="496aa647fadee3ff" providerId="LiveId" clId="{AE4D2A81-7AD1-4BC1-A8CB-954BDA224E34}" dt="2026-08-24T15:32:40.192" v="63" actId="14100"/>
          <ac:picMkLst>
            <pc:docMk/>
            <pc:sldMk cId="0" sldId="262"/>
            <ac:picMk id="14" creationId="{B9DFF89B-97F7-C04D-7F53-0687B2E9D5E5}"/>
          </ac:picMkLst>
        </pc:picChg>
        <pc:picChg chg="add mod">
          <ac:chgData name="dibyalochan dandapat" userId="496aa647fadee3ff" providerId="LiveId" clId="{AE4D2A81-7AD1-4BC1-A8CB-954BDA224E34}" dt="2026-08-24T15:34:22.569" v="66" actId="14100"/>
          <ac:picMkLst>
            <pc:docMk/>
            <pc:sldMk cId="0" sldId="262"/>
            <ac:picMk id="16" creationId="{BE07F49E-7219-67C3-FCF3-9EF61EBF49F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109728" cy="4663440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860152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RLS-Enabled Regional Sales &amp; Profit Analytics</a:t>
            </a:r>
            <a:endParaRPr sz="3500" b="1" dirty="0">
              <a:solidFill>
                <a:schemeClr val="bg1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" y="2560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dirty="0">
                <a:solidFill>
                  <a:srgbClr val="D7E1ED"/>
                </a:solidFill>
                <a:latin typeface="Aptos"/>
              </a:rPr>
              <a:t>Final Client-Style Power BI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37560"/>
            <a:ext cx="7955279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• Sales Overview</a:t>
            </a:r>
          </a:p>
          <a:p>
            <a:pPr>
              <a:spcAft>
                <a:spcPts val="9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• Customer Insights &amp; Customer Profile</a:t>
            </a:r>
          </a:p>
          <a:p>
            <a:pPr>
              <a:spcAft>
                <a:spcPts val="9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• Product, Discount &amp; Delivery Impact</a:t>
            </a:r>
          </a:p>
          <a:p>
            <a:pPr>
              <a:spcAft>
                <a:spcPts val="9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• Region &amp; Manager View</a:t>
            </a:r>
          </a:p>
          <a:p>
            <a:pPr>
              <a:spcAft>
                <a:spcPts val="9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• Bookmarks, Drill-through, Custom Tooltips &amp; Static RLS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897880"/>
            <a:ext cx="276344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FFFFFF"/>
                </a:solidFill>
                <a:latin typeface="Aptos"/>
              </a:rPr>
              <a:t>Prepared by: </a:t>
            </a:r>
            <a:r>
              <a:rPr lang="en-US" sz="1300" dirty="0">
                <a:solidFill>
                  <a:srgbClr val="FFFFFF"/>
                </a:solidFill>
                <a:latin typeface="Aptos"/>
              </a:rPr>
              <a:t>Dibyalochan Dandapat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Tool:</a:t>
            </a:r>
            <a:r>
              <a:rPr lang="en-US" sz="1400" dirty="0">
                <a:solidFill>
                  <a:schemeClr val="bg1"/>
                </a:solidFill>
              </a:rPr>
              <a:t> Microsoft Power BI</a:t>
            </a:r>
            <a:endParaRPr sz="130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3564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Aptos Display"/>
              </a:rP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978"/>
                </a:solidFill>
                <a:latin typeface="Aptos"/>
              </a:rPr>
              <a:t>Business-focused analysis implemented in the updated Power BI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347472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73152" cy="1234440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9AA"/>
                </a:solidFill>
                <a:latin typeface="Aptos"/>
              </a:rPr>
              <a:t>Sales &amp; Profit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7157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232B34"/>
                </a:solidFill>
                <a:latin typeface="Aptos"/>
              </a:rPr>
              <a:t>Evaluate overall sales, profit and order</a:t>
            </a:r>
            <a:endParaRPr lang="en-US" sz="1200" dirty="0">
              <a:solidFill>
                <a:srgbClr val="232B34"/>
              </a:solidFill>
              <a:latin typeface="Aptos"/>
            </a:endParaRPr>
          </a:p>
          <a:p>
            <a:r>
              <a:rPr sz="1200" dirty="0">
                <a:solidFill>
                  <a:srgbClr val="232B34"/>
                </a:solidFill>
                <a:latin typeface="Aptos"/>
              </a:rPr>
              <a:t>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63040"/>
            <a:ext cx="347472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463040"/>
            <a:ext cx="73152" cy="1234440"/>
          </a:xfrm>
          <a:prstGeom prst="rect">
            <a:avLst/>
          </a:prstGeom>
          <a:solidFill>
            <a:srgbClr val="2C8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62763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8457"/>
                </a:solidFill>
                <a:latin typeface="Aptos"/>
              </a:rPr>
              <a:t>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993392"/>
            <a:ext cx="308494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232B34"/>
                </a:solidFill>
                <a:latin typeface="Aptos"/>
              </a:rPr>
              <a:t>Identify high-value, low-value and profitable</a:t>
            </a:r>
            <a:endParaRPr lang="en-US" sz="1200" dirty="0">
              <a:solidFill>
                <a:srgbClr val="232B34"/>
              </a:solidFill>
              <a:latin typeface="Aptos"/>
            </a:endParaRPr>
          </a:p>
          <a:p>
            <a:r>
              <a:rPr sz="1200" dirty="0">
                <a:solidFill>
                  <a:srgbClr val="232B34"/>
                </a:solidFill>
                <a:latin typeface="Aptos"/>
              </a:rPr>
              <a:t> customers.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463040"/>
            <a:ext cx="347472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55864" y="1463040"/>
            <a:ext cx="73152" cy="1234440"/>
          </a:xfrm>
          <a:prstGeom prst="rect">
            <a:avLst/>
          </a:prstGeom>
          <a:solidFill>
            <a:srgbClr val="CD8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62763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D802B"/>
                </a:solidFill>
                <a:latin typeface="Aptos"/>
              </a:rPr>
              <a:t>Products &amp; Discounts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993392"/>
            <a:ext cx="32129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232B34"/>
                </a:solidFill>
                <a:latin typeface="Aptos"/>
              </a:rPr>
              <a:t>Understand product profitability and discount</a:t>
            </a:r>
            <a:endParaRPr lang="en-US" sz="1200" dirty="0">
              <a:solidFill>
                <a:srgbClr val="232B34"/>
              </a:solidFill>
              <a:latin typeface="Aptos"/>
            </a:endParaRPr>
          </a:p>
          <a:p>
            <a:r>
              <a:rPr sz="1200" dirty="0">
                <a:solidFill>
                  <a:srgbClr val="232B34"/>
                </a:solidFill>
                <a:latin typeface="Aptos"/>
              </a:rPr>
              <a:t> impact.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926080"/>
            <a:ext cx="347472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2926080"/>
            <a:ext cx="73152" cy="1234440"/>
          </a:xfrm>
          <a:prstGeom prst="rect">
            <a:avLst/>
          </a:prstGeom>
          <a:solidFill>
            <a:srgbClr val="B1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09067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14646"/>
                </a:solidFill>
                <a:latin typeface="Aptos"/>
              </a:rPr>
              <a:t>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456432"/>
            <a:ext cx="306186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232B34"/>
                </a:solidFill>
                <a:latin typeface="Aptos"/>
              </a:rPr>
              <a:t>Analyze delivery-time trends and temporary</a:t>
            </a:r>
            <a:endParaRPr lang="en-US" sz="1200" dirty="0">
              <a:solidFill>
                <a:srgbClr val="232B34"/>
              </a:solidFill>
              <a:latin typeface="Aptos"/>
            </a:endParaRPr>
          </a:p>
          <a:p>
            <a:r>
              <a:rPr sz="1200" dirty="0">
                <a:solidFill>
                  <a:srgbClr val="232B34"/>
                </a:solidFill>
                <a:latin typeface="Aptos"/>
              </a:rPr>
              <a:t> spikes.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2926080"/>
            <a:ext cx="347472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70832" y="2926080"/>
            <a:ext cx="73152" cy="1234440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9432" y="309067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9AA"/>
                </a:solidFill>
                <a:latin typeface="Aptos"/>
              </a:rPr>
              <a:t>Regions &amp; Managers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3456432"/>
            <a:ext cx="266707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232B34"/>
                </a:solidFill>
                <a:latin typeface="Aptos"/>
              </a:rPr>
              <a:t>Compare regional and manager-level </a:t>
            </a:r>
            <a:endParaRPr lang="en-US" sz="1200" dirty="0">
              <a:solidFill>
                <a:srgbClr val="232B34"/>
              </a:solidFill>
              <a:latin typeface="Aptos"/>
            </a:endParaRPr>
          </a:p>
          <a:p>
            <a:r>
              <a:rPr sz="1200" dirty="0">
                <a:solidFill>
                  <a:srgbClr val="232B34"/>
                </a:solidFill>
                <a:latin typeface="Aptos"/>
              </a:rPr>
              <a:t>performance.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5864" y="2926080"/>
            <a:ext cx="347472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55864" y="2926080"/>
            <a:ext cx="73152" cy="1234440"/>
          </a:xfrm>
          <a:prstGeom prst="rect">
            <a:avLst/>
          </a:prstGeom>
          <a:solidFill>
            <a:srgbClr val="2C8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84464" y="309067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8457"/>
                </a:solidFill>
                <a:latin typeface="Aptos"/>
              </a:rPr>
              <a:t>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3456432"/>
            <a:ext cx="30632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32B34"/>
                </a:solidFill>
                <a:latin typeface="Aptos"/>
              </a:rPr>
              <a:t>Restrict regional access using Static RLS.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709160"/>
            <a:ext cx="10217221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dirty="0">
                <a:solidFill>
                  <a:srgbClr val="232B34"/>
                </a:solidFill>
                <a:latin typeface="Aptos"/>
              </a:rPr>
              <a:t>The report is designed to support management decisions using interactive filtering, drill-down, drill-through,</a:t>
            </a:r>
            <a:endParaRPr lang="en-US" sz="1700" dirty="0">
              <a:solidFill>
                <a:srgbClr val="232B34"/>
              </a:solidFill>
              <a:latin typeface="Aptos"/>
            </a:endParaRPr>
          </a:p>
          <a:p>
            <a:r>
              <a:rPr sz="1700" dirty="0">
                <a:solidFill>
                  <a:srgbClr val="232B34"/>
                </a:solidFill>
                <a:latin typeface="Aptos"/>
              </a:rPr>
              <a:t> custom tooltips, bookmarks and regional security.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Aptos Display"/>
              </a:rPr>
              <a:t>Sales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978"/>
                </a:solidFill>
                <a:latin typeface="Aptos"/>
              </a:rPr>
              <a:t>Page 1 — findings recorded in the updated PBIX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035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143000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9AA"/>
                </a:solidFill>
                <a:latin typeface="Aptos"/>
              </a:rPr>
              <a:t>Category leader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32B34"/>
                </a:solidFill>
                <a:latin typeface="Aptos"/>
              </a:rPr>
              <a:t>Technology is the highest-performing category by both sales and profit.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3035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73152" cy="1143000"/>
          </a:xfrm>
          <a:prstGeom prst="rect">
            <a:avLst/>
          </a:prstGeom>
          <a:solidFill>
            <a:srgbClr val="2C8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8191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8457"/>
                </a:solidFill>
                <a:latin typeface="Aptos"/>
              </a:rPr>
              <a:t>Top revenue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47672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32B34"/>
                </a:solidFill>
                <a:latin typeface="Aptos"/>
              </a:rPr>
              <a:t>Assam, Madhya Pradesh and Kerala are the top revenue-generating states.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88920"/>
            <a:ext cx="53035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788920"/>
            <a:ext cx="73152" cy="1143000"/>
          </a:xfrm>
          <a:prstGeom prst="rect">
            <a:avLst/>
          </a:prstGeom>
          <a:solidFill>
            <a:srgbClr val="CD8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95351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D802B"/>
                </a:solidFill>
                <a:latin typeface="Aptos"/>
              </a:rPr>
              <a:t>Monthly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19272"/>
            <a:ext cx="4653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232B34"/>
                </a:solidFill>
                <a:latin typeface="Aptos"/>
              </a:rPr>
              <a:t>Sales generally strengthen toward the later months of the year, with </a:t>
            </a:r>
            <a:endParaRPr lang="en-US" sz="1200" dirty="0">
              <a:solidFill>
                <a:srgbClr val="232B34"/>
              </a:solidFill>
              <a:latin typeface="Aptos"/>
            </a:endParaRPr>
          </a:p>
          <a:p>
            <a:r>
              <a:rPr sz="1200" dirty="0">
                <a:solidFill>
                  <a:srgbClr val="232B34"/>
                </a:solidFill>
                <a:latin typeface="Aptos"/>
              </a:rPr>
              <a:t>November–December showing strong performance.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88920"/>
            <a:ext cx="53035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2788920"/>
            <a:ext cx="73152" cy="1143000"/>
          </a:xfrm>
          <a:prstGeom prst="rect">
            <a:avLst/>
          </a:prstGeom>
          <a:solidFill>
            <a:srgbClr val="B1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95351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14646"/>
                </a:solidFill>
                <a:latin typeface="Aptos"/>
              </a:rPr>
              <a:t>Annual trend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19272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232B34"/>
                </a:solidFill>
                <a:latin typeface="Aptos"/>
              </a:rPr>
              <a:t>Annual sales declined slightly from 2023 to 2025, indicating the need to</a:t>
            </a:r>
            <a:endParaRPr lang="en-US" sz="1200" dirty="0">
              <a:solidFill>
                <a:srgbClr val="232B34"/>
              </a:solidFill>
              <a:latin typeface="Aptos"/>
            </a:endParaRPr>
          </a:p>
          <a:p>
            <a:r>
              <a:rPr sz="1200" dirty="0">
                <a:solidFill>
                  <a:srgbClr val="232B34"/>
                </a:solidFill>
                <a:latin typeface="Aptos"/>
              </a:rPr>
              <a:t> investigate growth opportunities.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1605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5A6978"/>
                </a:solidFill>
                <a:latin typeface="Aptos"/>
              </a:rPr>
              <a:t>Dashboard coverage: Total Sales • Total Profit • Profit % • Total Orders • Category/Sub-category • State • Monthly Trend • Top 10 &amp; Bottom 10 Products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  <a:latin typeface="Aptos"/>
              </a:rPr>
              <a:t>3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04699A3-39D6-F859-2A8F-53420B9BA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0"/>
            <a:ext cx="3406435" cy="195851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A57B3D8-FB1D-8DF6-E507-E3BAB86CC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066" y="4572000"/>
            <a:ext cx="2938784" cy="196596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60802C6-0693-75E7-4674-7E5857BA2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665" y="4566583"/>
            <a:ext cx="3607215" cy="19127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Aptos Display"/>
              </a:rPr>
              <a:t>Customer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978"/>
                </a:solidFill>
                <a:latin typeface="Aptos"/>
              </a:rPr>
              <a:t>Page 2 — findings recorded in the updated PBIX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• Consumer customers contribute approximately 51% of total sales and are the largest customer segment.</a:t>
            </a:r>
          </a:p>
          <a:p>
            <a:pPr>
              <a:spcAft>
                <a:spcPts val="9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• Nikhil Sharma is the highest-sales customer, but his negative profit shows that high revenue does not always mean high customer value.</a:t>
            </a:r>
          </a:p>
          <a:p>
            <a:pPr>
              <a:spcAft>
                <a:spcPts val="9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• Corporate customers contribute approximately 30% of sales and represent the second-largest segment.</a:t>
            </a:r>
          </a:p>
          <a:p>
            <a:pPr>
              <a:spcAft>
                <a:spcPts val="9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• Customer profitability should be considered alongside sales when identifying high-value customers.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" y="3429000"/>
            <a:ext cx="338328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15496" y="3476306"/>
            <a:ext cx="73152" cy="914400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50901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F69AA"/>
                </a:solidFill>
                <a:latin typeface="Aptos"/>
              </a:rPr>
              <a:t>Top-value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2072" y="3851443"/>
            <a:ext cx="328064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232B34"/>
                </a:solidFill>
                <a:latin typeface="Aptos"/>
              </a:rPr>
              <a:t>Use both sales and profit to evaluate customer</a:t>
            </a:r>
            <a:endParaRPr lang="en-US" sz="1200" dirty="0">
              <a:solidFill>
                <a:srgbClr val="232B34"/>
              </a:solidFill>
              <a:latin typeface="Aptos"/>
            </a:endParaRPr>
          </a:p>
          <a:p>
            <a:r>
              <a:rPr sz="1200" dirty="0">
                <a:solidFill>
                  <a:srgbClr val="232B34"/>
                </a:solidFill>
                <a:latin typeface="Aptos"/>
              </a:rPr>
              <a:t>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7797" y="3429000"/>
            <a:ext cx="338328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97797" y="3487223"/>
            <a:ext cx="73152" cy="914400"/>
          </a:xfrm>
          <a:prstGeom prst="rect">
            <a:avLst/>
          </a:prstGeom>
          <a:solidFill>
            <a:srgbClr val="2C8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3485" y="342900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C8457"/>
                </a:solidFill>
                <a:latin typeface="Aptos"/>
              </a:rPr>
              <a:t>Segment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8506" y="3902902"/>
            <a:ext cx="300922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232B34"/>
                </a:solidFill>
                <a:latin typeface="Aptos"/>
              </a:rPr>
              <a:t>Consumer is the largest sales-contributing</a:t>
            </a:r>
            <a:endParaRPr lang="en-US" sz="1200" dirty="0">
              <a:solidFill>
                <a:srgbClr val="232B34"/>
              </a:solidFill>
              <a:latin typeface="Aptos"/>
            </a:endParaRPr>
          </a:p>
          <a:p>
            <a:r>
              <a:rPr sz="1200" dirty="0">
                <a:solidFill>
                  <a:srgbClr val="232B34"/>
                </a:solidFill>
                <a:latin typeface="Aptos"/>
              </a:rPr>
              <a:t> segment.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8178" y="3456539"/>
            <a:ext cx="3383280" cy="992017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82127" y="3509010"/>
            <a:ext cx="73152" cy="914400"/>
          </a:xfrm>
          <a:prstGeom prst="rect">
            <a:avLst/>
          </a:prstGeom>
          <a:solidFill>
            <a:srgbClr val="B1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2743" y="3456539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B14646"/>
                </a:solidFill>
                <a:latin typeface="Aptos"/>
              </a:rPr>
              <a:t>Profitability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9228" y="3902902"/>
            <a:ext cx="288611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232B34"/>
                </a:solidFill>
                <a:latin typeface="Aptos"/>
              </a:rPr>
              <a:t>High revenue can still be associated with</a:t>
            </a:r>
            <a:endParaRPr lang="en-US" sz="1200" dirty="0">
              <a:solidFill>
                <a:srgbClr val="232B34"/>
              </a:solidFill>
              <a:latin typeface="Aptos"/>
            </a:endParaRPr>
          </a:p>
          <a:p>
            <a:r>
              <a:rPr sz="1200" dirty="0">
                <a:solidFill>
                  <a:srgbClr val="232B34"/>
                </a:solidFill>
                <a:latin typeface="Aptos"/>
              </a:rPr>
              <a:t> negative profit.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  <a:latin typeface="Aptos"/>
              </a:rPr>
              <a:t>4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0AB7467-B675-1B23-5083-4C87B72B3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168" y="4642043"/>
            <a:ext cx="2758679" cy="195851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0614132-CF32-EFEF-6DB0-F7FC265C5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416" y="4642043"/>
            <a:ext cx="3025402" cy="20270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Aptos Display"/>
              </a:rPr>
              <a:t>Product, Discount &amp; Delivery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978"/>
                </a:solidFill>
                <a:latin typeface="Aptos"/>
              </a:rPr>
              <a:t>Page 3 — findings recorded in the updated PBIX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417320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9AA"/>
                </a:solidFill>
                <a:latin typeface="Aptos"/>
              </a:rPr>
              <a:t>Tables - India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30632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32B34"/>
                </a:solidFill>
                <a:latin typeface="Aptos"/>
              </a:rPr>
              <a:t>Approximately ₹62.83M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73152" cy="1417320"/>
          </a:xfrm>
          <a:prstGeom prst="rect">
            <a:avLst/>
          </a:prstGeom>
          <a:solidFill>
            <a:srgbClr val="B1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58191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14646"/>
                </a:solidFill>
                <a:latin typeface="Aptos"/>
              </a:rPr>
              <a:t>Tables - India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947672"/>
            <a:ext cx="30632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32B34"/>
                </a:solidFill>
                <a:latin typeface="Aptos"/>
              </a:rPr>
              <a:t>Approximately -₹5.32M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417320"/>
            <a:ext cx="34747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55864" y="1417320"/>
            <a:ext cx="73152" cy="1417320"/>
          </a:xfrm>
          <a:prstGeom prst="rect">
            <a:avLst/>
          </a:prstGeom>
          <a:solidFill>
            <a:srgbClr val="CD8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58191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D802B"/>
                </a:solidFill>
                <a:latin typeface="Aptos"/>
              </a:rPr>
              <a:t>Average discount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947672"/>
            <a:ext cx="30632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32B34"/>
                </a:solidFill>
                <a:latin typeface="Aptos"/>
              </a:rPr>
              <a:t>Approximately 9.8%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154680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rPr dirty="0"/>
              <a:t>• Tables - India is the only major loss-making product, generating approximately ₹62.83M in sales but a negative profit of about ₹5.32M. Its average discount is around 9.8%, indicating that its pricing and discount strategy should be reviewed.</a:t>
            </a:r>
          </a:p>
          <a:p>
            <a:pPr>
              <a:spcAft>
                <a:spcPts val="9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rPr dirty="0"/>
              <a:t>• Average delivery time is approximately 17.5 days across the dataset.</a:t>
            </a:r>
          </a:p>
          <a:p>
            <a:pPr>
              <a:spcAft>
                <a:spcPts val="9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rPr dirty="0"/>
              <a:t>• Delivery performance generally remains within the 17–18 day range.</a:t>
            </a:r>
          </a:p>
          <a:p>
            <a:pPr>
              <a:spcAft>
                <a:spcPts val="9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rPr dirty="0"/>
              <a:t>• Some months show temporary delivery spikes, so those periods should be investigated for operational delays.</a:t>
            </a:r>
          </a:p>
          <a:p>
            <a:pPr>
              <a:spcAft>
                <a:spcPts val="9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rPr dirty="0"/>
              <a:t>• Delivery performance should be monitored alongside region and shipping mode to identify recurring bottlenecks.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  <a:latin typeface="Aptos"/>
              </a:rPr>
              <a:t>5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07AFAA0-9197-A067-512E-5D889FC4E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99" y="5024068"/>
            <a:ext cx="4310933" cy="177794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6F3D6A9-BB23-6CF8-1B97-17D420B10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486" y="5046927"/>
            <a:ext cx="3342975" cy="175509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DDD40CB-F058-B4B2-FADF-25C9FAA67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5024068"/>
            <a:ext cx="3894038" cy="17779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Aptos Display"/>
              </a:rPr>
              <a:t>Region &amp; Manager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978"/>
                </a:solidFill>
                <a:latin typeface="Aptos"/>
              </a:rPr>
              <a:t>Page 4 — findings recorded in the updated PBIX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417320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9AA"/>
                </a:solidFill>
                <a:latin typeface="Aptos"/>
              </a:rPr>
              <a:t>Best 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286456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232B34"/>
                </a:solidFill>
                <a:latin typeface="Aptos"/>
              </a:rPr>
              <a:t>North — approximately ₹332M sales and</a:t>
            </a:r>
            <a:endParaRPr lang="en-US" sz="1200" dirty="0">
              <a:solidFill>
                <a:srgbClr val="232B34"/>
              </a:solidFill>
              <a:latin typeface="Aptos"/>
            </a:endParaRPr>
          </a:p>
          <a:p>
            <a:r>
              <a:rPr sz="1200" dirty="0">
                <a:solidFill>
                  <a:srgbClr val="232B34"/>
                </a:solidFill>
                <a:latin typeface="Aptos"/>
              </a:rPr>
              <a:t> ₹36.9M profit.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73152" cy="1417320"/>
          </a:xfrm>
          <a:prstGeom prst="rect">
            <a:avLst/>
          </a:prstGeom>
          <a:solidFill>
            <a:srgbClr val="2C8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58191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8457"/>
                </a:solidFill>
                <a:latin typeface="Aptos"/>
              </a:rPr>
              <a:t>Top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947672"/>
            <a:ext cx="31918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232B34"/>
                </a:solidFill>
                <a:latin typeface="Aptos"/>
              </a:rPr>
              <a:t>Aniket Sharma — highest-performing regional</a:t>
            </a:r>
            <a:endParaRPr lang="en-US" sz="1200" dirty="0">
              <a:solidFill>
                <a:srgbClr val="232B34"/>
              </a:solidFill>
              <a:latin typeface="Aptos"/>
            </a:endParaRPr>
          </a:p>
          <a:p>
            <a:r>
              <a:rPr sz="1200" dirty="0">
                <a:solidFill>
                  <a:srgbClr val="232B34"/>
                </a:solidFill>
                <a:latin typeface="Aptos"/>
              </a:rPr>
              <a:t> manager based on North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417320"/>
            <a:ext cx="34747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55864" y="1417320"/>
            <a:ext cx="73152" cy="1417320"/>
          </a:xfrm>
          <a:prstGeom prst="rect">
            <a:avLst/>
          </a:prstGeom>
          <a:solidFill>
            <a:srgbClr val="B1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58191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14646"/>
                </a:solidFill>
                <a:latin typeface="Aptos"/>
              </a:rPr>
              <a:t>Weakest 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947672"/>
            <a:ext cx="289367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232B34"/>
                </a:solidFill>
                <a:latin typeface="Aptos"/>
              </a:rPr>
              <a:t>Central — approximately ₹96M sales and</a:t>
            </a:r>
            <a:endParaRPr lang="en-US" sz="1200" dirty="0">
              <a:solidFill>
                <a:srgbClr val="232B34"/>
              </a:solidFill>
              <a:latin typeface="Aptos"/>
            </a:endParaRPr>
          </a:p>
          <a:p>
            <a:r>
              <a:rPr sz="1200" dirty="0">
                <a:solidFill>
                  <a:srgbClr val="232B34"/>
                </a:solidFill>
                <a:latin typeface="Aptos"/>
              </a:rPr>
              <a:t> ₹12.1M profit.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4612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Nithin Chaturvedi's Central region requires attention to improve sales and profitability.</a:t>
            </a:r>
          </a:p>
          <a:p>
            <a:pPr>
              <a:spcAft>
                <a:spcPts val="9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West also represents an opportunity for growth because its sales and profit are substantially lower than North, East and South.</a:t>
            </a:r>
          </a:p>
          <a:p>
            <a:pPr>
              <a:spcAft>
                <a:spcPts val="9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Region → State → City drill-down helps identify the locations requiring attention.</a:t>
            </a:r>
          </a:p>
          <a:p>
            <a:pPr>
              <a:spcAft>
                <a:spcPts val="9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The Region Manager matrix compares Sales and Profit for regional managers.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  <a:latin typeface="Aptos"/>
              </a:rPr>
              <a:t>6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DD33178-ADAA-4925-FD16-F531F7D54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78590"/>
            <a:ext cx="3101609" cy="20728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429174-FDBD-F37A-49F7-DE98E8B6A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4678590"/>
            <a:ext cx="3368332" cy="206519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BFC3CAE-A96E-FD89-EAF3-0257F65F8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339" y="4678590"/>
            <a:ext cx="3391194" cy="21109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Aptos Display"/>
              </a:rPr>
              <a:t>Final Insight Summary &amp; 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978"/>
                </a:solidFill>
                <a:latin typeface="Aptos"/>
              </a:rPr>
              <a:t>Consolidated from the updated PBIX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49240" cy="3907194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349240" cy="3952914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64208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F69AA"/>
                </a:solidFill>
                <a:latin typeface="Aptos Display"/>
              </a:rPr>
              <a:t>Final Insight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t>• Technology leads on both sales and profit.</a:t>
            </a:r>
          </a:p>
          <a:p>
            <a:pPr>
              <a:spcAft>
                <a:spcPts val="9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t>• Assam, Madhya Pradesh and Kerala are the top revenue-generating states.</a:t>
            </a:r>
          </a:p>
          <a:p>
            <a:pPr>
              <a:spcAft>
                <a:spcPts val="9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t>• Consumer customers contribute about 51% of sales.</a:t>
            </a:r>
          </a:p>
          <a:p>
            <a:pPr>
              <a:spcAft>
                <a:spcPts val="9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t>• Nikhil Sharma has the highest sales but negative profit.</a:t>
            </a:r>
          </a:p>
          <a:p>
            <a:pPr>
              <a:spcAft>
                <a:spcPts val="9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t>• Tables - India is a major loss-making product.</a:t>
            </a:r>
          </a:p>
          <a:p>
            <a:pPr>
              <a:spcAft>
                <a:spcPts val="9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t>• North is the strongest region; Central is the weakest.</a:t>
            </a:r>
          </a:p>
          <a:p>
            <a:pPr>
              <a:spcAft>
                <a:spcPts val="9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t>• Delivery averages about 17.5 days, with some temporary spikes.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64208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C8457"/>
                </a:solidFill>
                <a:latin typeface="Aptos Display"/>
              </a:rPr>
              <a:t>Business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t>• Review pricing, cost and discount strategy for Tables - India.</a:t>
            </a:r>
          </a:p>
          <a:p>
            <a:pPr>
              <a:spcAft>
                <a:spcPts val="9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t>• Optimize discounts so sales growth does not reduce profit.</a:t>
            </a:r>
          </a:p>
          <a:p>
            <a:pPr>
              <a:spcAft>
                <a:spcPts val="9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t>• Evaluate customer value using both sales and profitability.</a:t>
            </a:r>
          </a:p>
          <a:p>
            <a:pPr>
              <a:spcAft>
                <a:spcPts val="9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t>• Investigate delivery spikes and recurring operational bottlenecks.</a:t>
            </a:r>
          </a:p>
          <a:p>
            <a:pPr>
              <a:spcAft>
                <a:spcPts val="9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t>• Create targeted improvement plans for Central and other weaker territories.</a:t>
            </a:r>
          </a:p>
          <a:p>
            <a:pPr>
              <a:spcAft>
                <a:spcPts val="9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t>• Use regional and manager KPIs to monitor both sales and profit.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  <a:latin typeface="Aptos"/>
              </a:rPr>
              <a:t>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DFF89B-97F7-C04D-7F53-0687B2E9D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5440679"/>
            <a:ext cx="3429297" cy="14173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E07F49E-7219-67C3-FCF3-9EF61EBF4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20" y="5440678"/>
            <a:ext cx="3924640" cy="14288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92D4B"/>
                </a:solidFill>
                <a:latin typeface="Aptos Display"/>
              </a:rPr>
              <a:t>Interactive Features, Security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978"/>
                </a:solidFill>
                <a:latin typeface="Aptos"/>
              </a:rPr>
              <a:t>Mandatory Power BI capabilities implemented in the updated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25780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987552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9AA"/>
                </a:solidFill>
                <a:latin typeface="Aptos"/>
              </a:rPr>
              <a:t>Static RLS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32B34"/>
                </a:solidFill>
                <a:latin typeface="Aptos"/>
              </a:rPr>
              <a:t>Regional Manager access is restricted to the assigned region.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525780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73152" cy="987552"/>
          </a:xfrm>
          <a:prstGeom prst="rect">
            <a:avLst/>
          </a:prstGeom>
          <a:solidFill>
            <a:srgbClr val="2C8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770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8457"/>
                </a:solidFill>
                <a:latin typeface="Aptos"/>
              </a:rPr>
              <a:t>Bookmarks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36392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32B34"/>
                </a:solidFill>
                <a:latin typeface="Aptos"/>
              </a:rPr>
              <a:t>Sales View and Profit View switch report states.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40480"/>
            <a:ext cx="525780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840480"/>
            <a:ext cx="73152" cy="987552"/>
          </a:xfrm>
          <a:prstGeom prst="rect">
            <a:avLst/>
          </a:prstGeom>
          <a:solidFill>
            <a:srgbClr val="CD8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00507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D802B"/>
                </a:solidFill>
                <a:latin typeface="Aptos"/>
              </a:rPr>
              <a:t>Custom Tooltips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70832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32B34"/>
                </a:solidFill>
                <a:latin typeface="Aptos"/>
              </a:rPr>
              <a:t>Customer Details and Product Details provide contextual 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371600"/>
            <a:ext cx="525780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1371600"/>
            <a:ext cx="73152" cy="987552"/>
          </a:xfrm>
          <a:prstGeom prst="rect">
            <a:avLst/>
          </a:prstGeom>
          <a:solidFill>
            <a:srgbClr val="B1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53619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14646"/>
                </a:solidFill>
                <a:latin typeface="Aptos"/>
              </a:rPr>
              <a:t>Drill-through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901952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32B34"/>
                </a:solidFill>
                <a:latin typeface="Aptos"/>
              </a:rPr>
              <a:t>Customer Profile and Region Profile support detailed analysis.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606040"/>
            <a:ext cx="525780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2606040"/>
            <a:ext cx="73152" cy="987552"/>
          </a:xfrm>
          <a:prstGeom prst="rect">
            <a:avLst/>
          </a:prstGeom>
          <a:solidFill>
            <a:srgbClr val="2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2770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9AA"/>
                </a:solidFill>
                <a:latin typeface="Aptos"/>
              </a:rPr>
              <a:t>Navigation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136392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32B34"/>
                </a:solidFill>
                <a:latin typeface="Aptos"/>
              </a:rPr>
              <a:t>Buttons connect the report pages.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840480"/>
            <a:ext cx="525780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3840480"/>
            <a:ext cx="73152" cy="987552"/>
          </a:xfrm>
          <a:prstGeom prst="rect">
            <a:avLst/>
          </a:prstGeom>
          <a:solidFill>
            <a:srgbClr val="2C8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00507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8457"/>
                </a:solidFill>
                <a:latin typeface="Aptos"/>
              </a:rPr>
              <a:t>Drill-down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370832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32B34"/>
                </a:solidFill>
                <a:latin typeface="Aptos"/>
              </a:rPr>
              <a:t>Region → State → City supports geographic analysis.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349240"/>
            <a:ext cx="108082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232B34"/>
                </a:solidFill>
                <a:latin typeface="Aptos"/>
              </a:rPr>
              <a:t>Conclusion: The completed Power BI solution combines sales, customer, product, delivery and regional analysis with interactive</a:t>
            </a:r>
            <a:endParaRPr lang="en-US" sz="1400" dirty="0">
              <a:solidFill>
                <a:srgbClr val="232B34"/>
              </a:solidFill>
              <a:latin typeface="Aptos"/>
            </a:endParaRPr>
          </a:p>
          <a:p>
            <a:r>
              <a:rPr sz="1400" dirty="0">
                <a:solidFill>
                  <a:srgbClr val="232B34"/>
                </a:solidFill>
                <a:latin typeface="Aptos"/>
              </a:rPr>
              <a:t> navigation and secure regional access. It helps management identify profitability issues, operational bottlenecks and territory-level opportunities.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47395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913</Words>
  <Application>Microsoft Office PowerPoint</Application>
  <PresentationFormat>Widescreen</PresentationFormat>
  <Paragraphs>127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dibyalochan dandapat</dc:creator>
  <cp:keywords/>
  <dc:description>generated using python-pptx</dc:description>
  <cp:lastModifiedBy>dibyalochan dandapat</cp:lastModifiedBy>
  <cp:revision>2</cp:revision>
  <dcterms:created xsi:type="dcterms:W3CDTF">2013-01-27T09:14:16Z</dcterms:created>
  <dcterms:modified xsi:type="dcterms:W3CDTF">2026-08-24T16:42:40Z</dcterms:modified>
  <cp:category/>
</cp:coreProperties>
</file>